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4" r:id="rId4"/>
    <p:sldId id="265" r:id="rId5"/>
    <p:sldId id="266" r:id="rId6"/>
    <p:sldId id="258" r:id="rId7"/>
    <p:sldId id="267" r:id="rId8"/>
    <p:sldId id="268" r:id="rId9"/>
    <p:sldId id="269" r:id="rId10"/>
    <p:sldId id="270" r:id="rId11"/>
    <p:sldId id="259" r:id="rId12"/>
    <p:sldId id="257" r:id="rId13"/>
    <p:sldId id="260" r:id="rId14"/>
    <p:sldId id="261" r:id="rId15"/>
    <p:sldId id="26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5FF0BF-4A8F-4DD2-ABC3-53E6BDDE075F}" v="6" dt="2024-03-08T05:42:58.0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68" d="100"/>
          <a:sy n="68" d="100"/>
        </p:scale>
        <p:origin x="7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jaykumar, Vineeta (V.)" userId="f3a67ff7-3862-42f0-8687-a855719eea5b" providerId="ADAL" clId="{3C5FF0BF-4A8F-4DD2-ABC3-53E6BDDE075F}"/>
    <pc:docChg chg="undo redo custSel addSld delSld modSld">
      <pc:chgData name="Vijaykumar, Vineeta (V.)" userId="f3a67ff7-3862-42f0-8687-a855719eea5b" providerId="ADAL" clId="{3C5FF0BF-4A8F-4DD2-ABC3-53E6BDDE075F}" dt="2024-03-08T06:21:28.303" v="1160" actId="22"/>
      <pc:docMkLst>
        <pc:docMk/>
      </pc:docMkLst>
      <pc:sldChg chg="addSp delSp modSp mod">
        <pc:chgData name="Vijaykumar, Vineeta (V.)" userId="f3a67ff7-3862-42f0-8687-a855719eea5b" providerId="ADAL" clId="{3C5FF0BF-4A8F-4DD2-ABC3-53E6BDDE075F}" dt="2024-03-08T06:13:16.816" v="1071" actId="1076"/>
        <pc:sldMkLst>
          <pc:docMk/>
          <pc:sldMk cId="53747581" sldId="256"/>
        </pc:sldMkLst>
        <pc:spChg chg="mod">
          <ac:chgData name="Vijaykumar, Vineeta (V.)" userId="f3a67ff7-3862-42f0-8687-a855719eea5b" providerId="ADAL" clId="{3C5FF0BF-4A8F-4DD2-ABC3-53E6BDDE075F}" dt="2024-03-08T06:13:14.327" v="1070" actId="1076"/>
          <ac:spMkLst>
            <pc:docMk/>
            <pc:sldMk cId="53747581" sldId="256"/>
            <ac:spMk id="2" creationId="{6E0C4F88-FF50-25BE-326B-696BB84AD795}"/>
          </ac:spMkLst>
        </pc:spChg>
        <pc:spChg chg="del">
          <ac:chgData name="Vijaykumar, Vineeta (V.)" userId="f3a67ff7-3862-42f0-8687-a855719eea5b" providerId="ADAL" clId="{3C5FF0BF-4A8F-4DD2-ABC3-53E6BDDE075F}" dt="2024-03-08T06:11:54.657" v="1063" actId="478"/>
          <ac:spMkLst>
            <pc:docMk/>
            <pc:sldMk cId="53747581" sldId="256"/>
            <ac:spMk id="3" creationId="{96D36091-12BD-645D-6C44-BDC6B3D54702}"/>
          </ac:spMkLst>
        </pc:spChg>
        <pc:picChg chg="add mod">
          <ac:chgData name="Vijaykumar, Vineeta (V.)" userId="f3a67ff7-3862-42f0-8687-a855719eea5b" providerId="ADAL" clId="{3C5FF0BF-4A8F-4DD2-ABC3-53E6BDDE075F}" dt="2024-03-08T06:13:16.816" v="1071" actId="1076"/>
          <ac:picMkLst>
            <pc:docMk/>
            <pc:sldMk cId="53747581" sldId="256"/>
            <ac:picMk id="5" creationId="{5B2252E0-C048-284D-4046-677C5BFB21CD}"/>
          </ac:picMkLst>
        </pc:picChg>
      </pc:sldChg>
      <pc:sldChg chg="addSp modSp new mod">
        <pc:chgData name="Vijaykumar, Vineeta (V.)" userId="f3a67ff7-3862-42f0-8687-a855719eea5b" providerId="ADAL" clId="{3C5FF0BF-4A8F-4DD2-ABC3-53E6BDDE075F}" dt="2024-03-05T09:42:28.514" v="103" actId="27636"/>
        <pc:sldMkLst>
          <pc:docMk/>
          <pc:sldMk cId="2674158070" sldId="260"/>
        </pc:sldMkLst>
        <pc:spChg chg="mod">
          <ac:chgData name="Vijaykumar, Vineeta (V.)" userId="f3a67ff7-3862-42f0-8687-a855719eea5b" providerId="ADAL" clId="{3C5FF0BF-4A8F-4DD2-ABC3-53E6BDDE075F}" dt="2024-03-05T09:14:13.567" v="13" actId="1076"/>
          <ac:spMkLst>
            <pc:docMk/>
            <pc:sldMk cId="2674158070" sldId="260"/>
            <ac:spMk id="2" creationId="{F0B3D3E0-43D6-B4C3-D01E-6826A076133D}"/>
          </ac:spMkLst>
        </pc:spChg>
        <pc:spChg chg="mod">
          <ac:chgData name="Vijaykumar, Vineeta (V.)" userId="f3a67ff7-3862-42f0-8687-a855719eea5b" providerId="ADAL" clId="{3C5FF0BF-4A8F-4DD2-ABC3-53E6BDDE075F}" dt="2024-03-05T09:42:28.514" v="103" actId="27636"/>
          <ac:spMkLst>
            <pc:docMk/>
            <pc:sldMk cId="2674158070" sldId="260"/>
            <ac:spMk id="3" creationId="{A201A7FF-1586-BA4E-7128-0B2AFE523069}"/>
          </ac:spMkLst>
        </pc:spChg>
        <pc:picChg chg="add mod">
          <ac:chgData name="Vijaykumar, Vineeta (V.)" userId="f3a67ff7-3862-42f0-8687-a855719eea5b" providerId="ADAL" clId="{3C5FF0BF-4A8F-4DD2-ABC3-53E6BDDE075F}" dt="2024-03-05T09:14:16.014" v="14" actId="1076"/>
          <ac:picMkLst>
            <pc:docMk/>
            <pc:sldMk cId="2674158070" sldId="260"/>
            <ac:picMk id="5" creationId="{0E71D0B1-270F-1285-9B92-B9A2A740CDC2}"/>
          </ac:picMkLst>
        </pc:picChg>
      </pc:sldChg>
      <pc:sldChg chg="modSp new mod">
        <pc:chgData name="Vijaykumar, Vineeta (V.)" userId="f3a67ff7-3862-42f0-8687-a855719eea5b" providerId="ADAL" clId="{3C5FF0BF-4A8F-4DD2-ABC3-53E6BDDE075F}" dt="2024-03-06T08:25:38.624" v="645" actId="20577"/>
        <pc:sldMkLst>
          <pc:docMk/>
          <pc:sldMk cId="2470557994" sldId="261"/>
        </pc:sldMkLst>
        <pc:spChg chg="mod">
          <ac:chgData name="Vijaykumar, Vineeta (V.)" userId="f3a67ff7-3862-42f0-8687-a855719eea5b" providerId="ADAL" clId="{3C5FF0BF-4A8F-4DD2-ABC3-53E6BDDE075F}" dt="2024-03-06T08:25:38.624" v="645" actId="20577"/>
          <ac:spMkLst>
            <pc:docMk/>
            <pc:sldMk cId="2470557994" sldId="261"/>
            <ac:spMk id="3" creationId="{7DB4C018-9B2A-DEF1-C0A1-9FC5F4836E25}"/>
          </ac:spMkLst>
        </pc:spChg>
      </pc:sldChg>
      <pc:sldChg chg="modSp new mod">
        <pc:chgData name="Vijaykumar, Vineeta (V.)" userId="f3a67ff7-3862-42f0-8687-a855719eea5b" providerId="ADAL" clId="{3C5FF0BF-4A8F-4DD2-ABC3-53E6BDDE075F}" dt="2024-03-08T01:18:10.337" v="650" actId="20577"/>
        <pc:sldMkLst>
          <pc:docMk/>
          <pc:sldMk cId="2306238069" sldId="262"/>
        </pc:sldMkLst>
        <pc:spChg chg="mod">
          <ac:chgData name="Vijaykumar, Vineeta (V.)" userId="f3a67ff7-3862-42f0-8687-a855719eea5b" providerId="ADAL" clId="{3C5FF0BF-4A8F-4DD2-ABC3-53E6BDDE075F}" dt="2024-03-08T01:18:10.337" v="650" actId="20577"/>
          <ac:spMkLst>
            <pc:docMk/>
            <pc:sldMk cId="2306238069" sldId="262"/>
            <ac:spMk id="3" creationId="{4A605A3C-264C-6E06-44EE-4D7128BDD3C0}"/>
          </ac:spMkLst>
        </pc:spChg>
      </pc:sldChg>
      <pc:sldChg chg="modSp new mod">
        <pc:chgData name="Vijaykumar, Vineeta (V.)" userId="f3a67ff7-3862-42f0-8687-a855719eea5b" providerId="ADAL" clId="{3C5FF0BF-4A8F-4DD2-ABC3-53E6BDDE075F}" dt="2024-03-08T06:14:46.017" v="1152" actId="20577"/>
        <pc:sldMkLst>
          <pc:docMk/>
          <pc:sldMk cId="62509321" sldId="263"/>
        </pc:sldMkLst>
        <pc:spChg chg="mod">
          <ac:chgData name="Vijaykumar, Vineeta (V.)" userId="f3a67ff7-3862-42f0-8687-a855719eea5b" providerId="ADAL" clId="{3C5FF0BF-4A8F-4DD2-ABC3-53E6BDDE075F}" dt="2024-03-08T05:21:36.281" v="674" actId="20577"/>
          <ac:spMkLst>
            <pc:docMk/>
            <pc:sldMk cId="62509321" sldId="263"/>
            <ac:spMk id="2" creationId="{614C90A5-176E-E801-A440-1ED897478DEE}"/>
          </ac:spMkLst>
        </pc:spChg>
        <pc:spChg chg="mod">
          <ac:chgData name="Vijaykumar, Vineeta (V.)" userId="f3a67ff7-3862-42f0-8687-a855719eea5b" providerId="ADAL" clId="{3C5FF0BF-4A8F-4DD2-ABC3-53E6BDDE075F}" dt="2024-03-08T06:14:46.017" v="1152" actId="20577"/>
          <ac:spMkLst>
            <pc:docMk/>
            <pc:sldMk cId="62509321" sldId="263"/>
            <ac:spMk id="3" creationId="{6AC6D2B1-41E8-8202-2550-7DF404D3DECB}"/>
          </ac:spMkLst>
        </pc:spChg>
      </pc:sldChg>
      <pc:sldChg chg="modSp new add del mod">
        <pc:chgData name="Vijaykumar, Vineeta (V.)" userId="f3a67ff7-3862-42f0-8687-a855719eea5b" providerId="ADAL" clId="{3C5FF0BF-4A8F-4DD2-ABC3-53E6BDDE075F}" dt="2024-03-08T06:10:17.899" v="1053"/>
        <pc:sldMkLst>
          <pc:docMk/>
          <pc:sldMk cId="3995852424" sldId="264"/>
        </pc:sldMkLst>
        <pc:spChg chg="mod">
          <ac:chgData name="Vijaykumar, Vineeta (V.)" userId="f3a67ff7-3862-42f0-8687-a855719eea5b" providerId="ADAL" clId="{3C5FF0BF-4A8F-4DD2-ABC3-53E6BDDE075F}" dt="2024-03-08T05:22:52.286" v="830" actId="20577"/>
          <ac:spMkLst>
            <pc:docMk/>
            <pc:sldMk cId="3995852424" sldId="264"/>
            <ac:spMk id="2" creationId="{CA2D2973-916F-C1CC-95E4-E564415F85DD}"/>
          </ac:spMkLst>
        </pc:spChg>
        <pc:spChg chg="mod">
          <ac:chgData name="Vijaykumar, Vineeta (V.)" userId="f3a67ff7-3862-42f0-8687-a855719eea5b" providerId="ADAL" clId="{3C5FF0BF-4A8F-4DD2-ABC3-53E6BDDE075F}" dt="2024-03-08T06:10:17.899" v="1053"/>
          <ac:spMkLst>
            <pc:docMk/>
            <pc:sldMk cId="3995852424" sldId="264"/>
            <ac:spMk id="3" creationId="{2135A2B3-AAA1-D671-B434-624390FF26CC}"/>
          </ac:spMkLst>
        </pc:spChg>
      </pc:sldChg>
      <pc:sldChg chg="modSp new mod">
        <pc:chgData name="Vijaykumar, Vineeta (V.)" userId="f3a67ff7-3862-42f0-8687-a855719eea5b" providerId="ADAL" clId="{3C5FF0BF-4A8F-4DD2-ABC3-53E6BDDE075F}" dt="2024-03-08T06:04:25.464" v="1051" actId="20577"/>
        <pc:sldMkLst>
          <pc:docMk/>
          <pc:sldMk cId="2835630524" sldId="265"/>
        </pc:sldMkLst>
        <pc:spChg chg="mod">
          <ac:chgData name="Vijaykumar, Vineeta (V.)" userId="f3a67ff7-3862-42f0-8687-a855719eea5b" providerId="ADAL" clId="{3C5FF0BF-4A8F-4DD2-ABC3-53E6BDDE075F}" dt="2024-03-08T05:40:47.022" v="846" actId="20577"/>
          <ac:spMkLst>
            <pc:docMk/>
            <pc:sldMk cId="2835630524" sldId="265"/>
            <ac:spMk id="2" creationId="{33FEED44-851A-D0CD-EBC6-4D166D927315}"/>
          </ac:spMkLst>
        </pc:spChg>
        <pc:spChg chg="mod">
          <ac:chgData name="Vijaykumar, Vineeta (V.)" userId="f3a67ff7-3862-42f0-8687-a855719eea5b" providerId="ADAL" clId="{3C5FF0BF-4A8F-4DD2-ABC3-53E6BDDE075F}" dt="2024-03-08T06:04:25.464" v="1051" actId="20577"/>
          <ac:spMkLst>
            <pc:docMk/>
            <pc:sldMk cId="2835630524" sldId="265"/>
            <ac:spMk id="3" creationId="{B5788DD7-1DA1-5077-CD87-5B08E65B2026}"/>
          </ac:spMkLst>
        </pc:spChg>
      </pc:sldChg>
      <pc:sldChg chg="addSp delSp modSp new add del mod">
        <pc:chgData name="Vijaykumar, Vineeta (V.)" userId="f3a67ff7-3862-42f0-8687-a855719eea5b" providerId="ADAL" clId="{3C5FF0BF-4A8F-4DD2-ABC3-53E6BDDE075F}" dt="2024-03-08T05:52:46.276" v="1050" actId="5793"/>
        <pc:sldMkLst>
          <pc:docMk/>
          <pc:sldMk cId="3104877776" sldId="266"/>
        </pc:sldMkLst>
        <pc:spChg chg="mod">
          <ac:chgData name="Vijaykumar, Vineeta (V.)" userId="f3a67ff7-3862-42f0-8687-a855719eea5b" providerId="ADAL" clId="{3C5FF0BF-4A8F-4DD2-ABC3-53E6BDDE075F}" dt="2024-03-08T05:43:46.394" v="1031" actId="14100"/>
          <ac:spMkLst>
            <pc:docMk/>
            <pc:sldMk cId="3104877776" sldId="266"/>
            <ac:spMk id="2" creationId="{E8C42864-095A-1415-D4D4-DDF348C03FE3}"/>
          </ac:spMkLst>
        </pc:spChg>
        <pc:spChg chg="add del mod">
          <ac:chgData name="Vijaykumar, Vineeta (V.)" userId="f3a67ff7-3862-42f0-8687-a855719eea5b" providerId="ADAL" clId="{3C5FF0BF-4A8F-4DD2-ABC3-53E6BDDE075F}" dt="2024-03-08T05:52:46.276" v="1050" actId="5793"/>
          <ac:spMkLst>
            <pc:docMk/>
            <pc:sldMk cId="3104877776" sldId="266"/>
            <ac:spMk id="3" creationId="{65A80C24-14F7-B550-2E37-D1165A865398}"/>
          </ac:spMkLst>
        </pc:spChg>
        <pc:spChg chg="add del mod">
          <ac:chgData name="Vijaykumar, Vineeta (V.)" userId="f3a67ff7-3862-42f0-8687-a855719eea5b" providerId="ADAL" clId="{3C5FF0BF-4A8F-4DD2-ABC3-53E6BDDE075F}" dt="2024-03-08T05:42:58.012" v="1016"/>
          <ac:spMkLst>
            <pc:docMk/>
            <pc:sldMk cId="3104877776" sldId="266"/>
            <ac:spMk id="4" creationId="{CB96B67D-86E1-A523-4CF7-C06D7008EE33}"/>
          </ac:spMkLst>
        </pc:spChg>
      </pc:sldChg>
      <pc:sldChg chg="new del">
        <pc:chgData name="Vijaykumar, Vineeta (V.)" userId="f3a67ff7-3862-42f0-8687-a855719eea5b" providerId="ADAL" clId="{3C5FF0BF-4A8F-4DD2-ABC3-53E6BDDE075F}" dt="2024-03-08T05:41:33.268" v="931" actId="680"/>
        <pc:sldMkLst>
          <pc:docMk/>
          <pc:sldMk cId="3603046539" sldId="266"/>
        </pc:sldMkLst>
      </pc:sldChg>
      <pc:sldChg chg="addSp new mod">
        <pc:chgData name="Vijaykumar, Vineeta (V.)" userId="f3a67ff7-3862-42f0-8687-a855719eea5b" providerId="ADAL" clId="{3C5FF0BF-4A8F-4DD2-ABC3-53E6BDDE075F}" dt="2024-03-08T06:19:33.341" v="1154" actId="22"/>
        <pc:sldMkLst>
          <pc:docMk/>
          <pc:sldMk cId="1691865003" sldId="267"/>
        </pc:sldMkLst>
        <pc:picChg chg="add">
          <ac:chgData name="Vijaykumar, Vineeta (V.)" userId="f3a67ff7-3862-42f0-8687-a855719eea5b" providerId="ADAL" clId="{3C5FF0BF-4A8F-4DD2-ABC3-53E6BDDE075F}" dt="2024-03-08T06:19:33.341" v="1154" actId="22"/>
          <ac:picMkLst>
            <pc:docMk/>
            <pc:sldMk cId="1691865003" sldId="267"/>
            <ac:picMk id="3" creationId="{63B49DC2-E70F-603A-3707-3745AA341256}"/>
          </ac:picMkLst>
        </pc:picChg>
      </pc:sldChg>
      <pc:sldChg chg="addSp new mod">
        <pc:chgData name="Vijaykumar, Vineeta (V.)" userId="f3a67ff7-3862-42f0-8687-a855719eea5b" providerId="ADAL" clId="{3C5FF0BF-4A8F-4DD2-ABC3-53E6BDDE075F}" dt="2024-03-08T06:20:00.653" v="1156" actId="22"/>
        <pc:sldMkLst>
          <pc:docMk/>
          <pc:sldMk cId="1452683289" sldId="268"/>
        </pc:sldMkLst>
        <pc:picChg chg="add">
          <ac:chgData name="Vijaykumar, Vineeta (V.)" userId="f3a67ff7-3862-42f0-8687-a855719eea5b" providerId="ADAL" clId="{3C5FF0BF-4A8F-4DD2-ABC3-53E6BDDE075F}" dt="2024-03-08T06:20:00.653" v="1156" actId="22"/>
          <ac:picMkLst>
            <pc:docMk/>
            <pc:sldMk cId="1452683289" sldId="268"/>
            <ac:picMk id="3" creationId="{2BBD0D27-0971-6AE5-5B0F-1528F503FB87}"/>
          </ac:picMkLst>
        </pc:picChg>
      </pc:sldChg>
      <pc:sldChg chg="addSp new mod">
        <pc:chgData name="Vijaykumar, Vineeta (V.)" userId="f3a67ff7-3862-42f0-8687-a855719eea5b" providerId="ADAL" clId="{3C5FF0BF-4A8F-4DD2-ABC3-53E6BDDE075F}" dt="2024-03-08T06:21:01.651" v="1158" actId="22"/>
        <pc:sldMkLst>
          <pc:docMk/>
          <pc:sldMk cId="1624760524" sldId="269"/>
        </pc:sldMkLst>
        <pc:picChg chg="add">
          <ac:chgData name="Vijaykumar, Vineeta (V.)" userId="f3a67ff7-3862-42f0-8687-a855719eea5b" providerId="ADAL" clId="{3C5FF0BF-4A8F-4DD2-ABC3-53E6BDDE075F}" dt="2024-03-08T06:21:01.651" v="1158" actId="22"/>
          <ac:picMkLst>
            <pc:docMk/>
            <pc:sldMk cId="1624760524" sldId="269"/>
            <ac:picMk id="3" creationId="{6C290422-C7AE-B1CF-4343-FD8A652799DB}"/>
          </ac:picMkLst>
        </pc:picChg>
      </pc:sldChg>
      <pc:sldChg chg="addSp new mod">
        <pc:chgData name="Vijaykumar, Vineeta (V.)" userId="f3a67ff7-3862-42f0-8687-a855719eea5b" providerId="ADAL" clId="{3C5FF0BF-4A8F-4DD2-ABC3-53E6BDDE075F}" dt="2024-03-08T06:21:28.303" v="1160" actId="22"/>
        <pc:sldMkLst>
          <pc:docMk/>
          <pc:sldMk cId="2750629223" sldId="270"/>
        </pc:sldMkLst>
        <pc:picChg chg="add">
          <ac:chgData name="Vijaykumar, Vineeta (V.)" userId="f3a67ff7-3862-42f0-8687-a855719eea5b" providerId="ADAL" clId="{3C5FF0BF-4A8F-4DD2-ABC3-53E6BDDE075F}" dt="2024-03-08T06:21:28.303" v="1160" actId="22"/>
          <ac:picMkLst>
            <pc:docMk/>
            <pc:sldMk cId="2750629223" sldId="270"/>
            <ac:picMk id="3" creationId="{146FCF7D-2C19-7DD1-B944-A6BB56406B3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F679B-3363-EE8A-5A2F-E3E58D8CED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42E70CC-F5F9-6C6D-4391-2996667C82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DBBDDF1-DDE3-E17B-0ECB-DEC49B8E1484}"/>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5" name="Footer Placeholder 4">
            <a:extLst>
              <a:ext uri="{FF2B5EF4-FFF2-40B4-BE49-F238E27FC236}">
                <a16:creationId xmlns:a16="http://schemas.microsoft.com/office/drawing/2014/main" id="{1A2DAA41-FD09-B741-4D45-AFE6734FCB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B5B45B-22A8-4532-4FAA-99996AB3095C}"/>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3447226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C10ED-D25C-B497-742F-40D6786DDF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8A460E-4F1F-8E38-34AD-36F026CB99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AD57B7-55CE-CE1B-E8BB-0F782171FDEE}"/>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5" name="Footer Placeholder 4">
            <a:extLst>
              <a:ext uri="{FF2B5EF4-FFF2-40B4-BE49-F238E27FC236}">
                <a16:creationId xmlns:a16="http://schemas.microsoft.com/office/drawing/2014/main" id="{D531967F-6C72-F635-AE65-470E52D57A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72CB93-D56A-37C1-4D54-63B81B67BFEF}"/>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2966657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21ED2-39AE-4786-1F60-3E6AB332F7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71FDB00-AB6A-E262-76CF-37263F43DE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CA83E2-96AA-F429-FA9E-5978F71134B6}"/>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5" name="Footer Placeholder 4">
            <a:extLst>
              <a:ext uri="{FF2B5EF4-FFF2-40B4-BE49-F238E27FC236}">
                <a16:creationId xmlns:a16="http://schemas.microsoft.com/office/drawing/2014/main" id="{F0688C37-C675-F328-B7E5-5E1C8896A7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B471FD-2A1A-E119-8DB9-E634ECE7D8F5}"/>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1223980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A9BFB-240A-A9C6-7BF9-8D8E1976D2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8EC904-80DA-74DC-6A32-8FBA3B3315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187F62-ABC8-C56C-183A-6C99959A2A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B533E7A-7EFF-73B5-02D1-CD6256744009}"/>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6" name="Footer Placeholder 5">
            <a:extLst>
              <a:ext uri="{FF2B5EF4-FFF2-40B4-BE49-F238E27FC236}">
                <a16:creationId xmlns:a16="http://schemas.microsoft.com/office/drawing/2014/main" id="{9061B35D-3F14-F646-78F4-C669BC1CB4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3E4FDF-7848-2256-0134-7D6760942B78}"/>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2255338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D0515-0D83-7A4F-E2DE-00BEA87ECE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A45875-CD61-BC0F-4344-209DD29B34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3A1710-3885-ABE0-A3CD-085EDF2C5B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44CDE5-C0EA-510B-985D-7859036999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161440-FFB7-A02F-15C4-FFB7444284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52E7F2-5BFE-A780-2AF7-FA8582A3C019}"/>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8" name="Footer Placeholder 7">
            <a:extLst>
              <a:ext uri="{FF2B5EF4-FFF2-40B4-BE49-F238E27FC236}">
                <a16:creationId xmlns:a16="http://schemas.microsoft.com/office/drawing/2014/main" id="{2007CAFA-D721-F742-2ACE-52BFFCE1B9F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3358A87-58C0-7507-5072-BEBDA41CC3CF}"/>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1520620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EE8E6-26F7-C23F-0FF6-278E1EAEE1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02CFC5-A1DD-AFAF-04A9-DD5CF3606E85}"/>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4" name="Footer Placeholder 3">
            <a:extLst>
              <a:ext uri="{FF2B5EF4-FFF2-40B4-BE49-F238E27FC236}">
                <a16:creationId xmlns:a16="http://schemas.microsoft.com/office/drawing/2014/main" id="{E8F58801-4F03-C673-F6DB-434984164E7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82077FD-91B9-BD56-B786-CDFD9193A644}"/>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582648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096D93-FAC5-CB0A-9900-2DE9CDF595CB}"/>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3" name="Footer Placeholder 2">
            <a:extLst>
              <a:ext uri="{FF2B5EF4-FFF2-40B4-BE49-F238E27FC236}">
                <a16:creationId xmlns:a16="http://schemas.microsoft.com/office/drawing/2014/main" id="{7A261215-A6AC-F42A-ADA1-7970D9ED7A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A172BD-5AB0-A0D7-28F8-3D32777AC849}"/>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3009603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1CD44-3D14-319F-AE7A-30C0834831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98F465-5C3F-0FA7-EF20-123E6661DB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EFD3F7-9F2B-AF8A-5C1B-0A5E8203DE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1F391F-6DCB-2ADD-9528-56BEEE6129A3}"/>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6" name="Footer Placeholder 5">
            <a:extLst>
              <a:ext uri="{FF2B5EF4-FFF2-40B4-BE49-F238E27FC236}">
                <a16:creationId xmlns:a16="http://schemas.microsoft.com/office/drawing/2014/main" id="{32A438F3-698D-1C9F-FB7B-BF2FA081EF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79C878-D2F4-255F-24D9-5B7C2A4BE5E0}"/>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727878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21455-13F8-59C0-21E8-27088909E4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0A0CBB-30C2-1CEC-74EB-CBFA57E2AA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1DC6DCA-B01E-0A17-9F18-85F05EF82A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9BDD8C-781A-970D-4D39-6FC27F6B4ECF}"/>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6" name="Footer Placeholder 5">
            <a:extLst>
              <a:ext uri="{FF2B5EF4-FFF2-40B4-BE49-F238E27FC236}">
                <a16:creationId xmlns:a16="http://schemas.microsoft.com/office/drawing/2014/main" id="{6E734BB4-D69E-89C9-A50D-0D62F6D8EC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77C650-4C2A-83B0-1012-B9DD56C073BF}"/>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1052637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F784E-D9AE-26A0-CA33-AD602B11FF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68E0D5-F1EA-96C1-5BCC-2DE2879D37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34DC5-08B7-DD6A-E948-225D37201740}"/>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5" name="Footer Placeholder 4">
            <a:extLst>
              <a:ext uri="{FF2B5EF4-FFF2-40B4-BE49-F238E27FC236}">
                <a16:creationId xmlns:a16="http://schemas.microsoft.com/office/drawing/2014/main" id="{F31D2F5E-0C9C-092D-4052-C55CB6B73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4E61E3-278D-6CB2-3299-6AF1AAA6437A}"/>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1201649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0770AB-9768-2664-5EB9-06FEE766F92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C6543F0-6BC7-7B13-6694-945DFA0A14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A17B7B-F6EE-CFAE-178D-085AA286C97A}"/>
              </a:ext>
            </a:extLst>
          </p:cNvPr>
          <p:cNvSpPr>
            <a:spLocks noGrp="1"/>
          </p:cNvSpPr>
          <p:nvPr>
            <p:ph type="dt" sz="half" idx="10"/>
          </p:nvPr>
        </p:nvSpPr>
        <p:spPr/>
        <p:txBody>
          <a:bodyPr/>
          <a:lstStyle/>
          <a:p>
            <a:fld id="{7192B0AC-119F-459D-9AE6-D8FB01EC3C62}" type="datetimeFigureOut">
              <a:rPr lang="en-US" smtClean="0"/>
              <a:t>3/8/2024</a:t>
            </a:fld>
            <a:endParaRPr lang="en-US"/>
          </a:p>
        </p:txBody>
      </p:sp>
      <p:sp>
        <p:nvSpPr>
          <p:cNvPr id="5" name="Footer Placeholder 4">
            <a:extLst>
              <a:ext uri="{FF2B5EF4-FFF2-40B4-BE49-F238E27FC236}">
                <a16:creationId xmlns:a16="http://schemas.microsoft.com/office/drawing/2014/main" id="{6833572A-D59C-0006-433C-B790E2FF6A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43AB90-798C-95F8-5749-3963DF27237E}"/>
              </a:ext>
            </a:extLst>
          </p:cNvPr>
          <p:cNvSpPr>
            <a:spLocks noGrp="1"/>
          </p:cNvSpPr>
          <p:nvPr>
            <p:ph type="sldNum" sz="quarter" idx="12"/>
          </p:nvPr>
        </p:nvSpPr>
        <p:spPr/>
        <p:txBody>
          <a:bodyPr/>
          <a:lstStyle/>
          <a:p>
            <a:fld id="{A6305246-7998-49CD-956A-99707309BCEC}" type="slidenum">
              <a:rPr lang="en-US" smtClean="0"/>
              <a:t>‹#›</a:t>
            </a:fld>
            <a:endParaRPr lang="en-US"/>
          </a:p>
        </p:txBody>
      </p:sp>
    </p:spTree>
    <p:extLst>
      <p:ext uri="{BB962C8B-B14F-4D97-AF65-F5344CB8AC3E}">
        <p14:creationId xmlns:p14="http://schemas.microsoft.com/office/powerpoint/2010/main" val="10683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B34257-A767-F7CB-EA73-00D291C0D0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299292C-C8F0-8757-4515-FD92D348BE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F900C3-4690-66F7-3A0B-6A15E830CD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92B0AC-119F-459D-9AE6-D8FB01EC3C62}" type="datetimeFigureOut">
              <a:rPr lang="en-US" smtClean="0"/>
              <a:t>3/8/2024</a:t>
            </a:fld>
            <a:endParaRPr lang="en-US"/>
          </a:p>
        </p:txBody>
      </p:sp>
      <p:sp>
        <p:nvSpPr>
          <p:cNvPr id="5" name="Footer Placeholder 4">
            <a:extLst>
              <a:ext uri="{FF2B5EF4-FFF2-40B4-BE49-F238E27FC236}">
                <a16:creationId xmlns:a16="http://schemas.microsoft.com/office/drawing/2014/main" id="{7D87B0BD-4770-E977-CEA3-88F79CAB9D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3056F6F-D344-9960-0C4F-32B2D5B2CA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305246-7998-49CD-956A-99707309BCEC}" type="slidenum">
              <a:rPr lang="en-US" smtClean="0"/>
              <a:t>‹#›</a:t>
            </a:fld>
            <a:endParaRPr lang="en-US"/>
          </a:p>
        </p:txBody>
      </p:sp>
    </p:spTree>
    <p:extLst>
      <p:ext uri="{BB962C8B-B14F-4D97-AF65-F5344CB8AC3E}">
        <p14:creationId xmlns:p14="http://schemas.microsoft.com/office/powerpoint/2010/main" val="9902420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edium.com/techspace-usict/bloom-filter-a-probabilistic-search-approach-in-data-structures-cb3dd48c6632" TargetMode="External"/><Relationship Id="rId2" Type="http://schemas.openxmlformats.org/officeDocument/2006/relationships/hyperlink" Target="https://systemdesign.one/bloom-filters-explained/" TargetMode="External"/><Relationship Id="rId1" Type="http://schemas.openxmlformats.org/officeDocument/2006/relationships/slideLayout" Target="../slideLayouts/slideLayout2.xml"/><Relationship Id="rId4" Type="http://schemas.openxmlformats.org/officeDocument/2006/relationships/hyperlink" Target="https://samwho.dev/bloom-filters/?utm_source=tldrwebdev"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C4F88-FF50-25BE-326B-696BB84AD795}"/>
              </a:ext>
            </a:extLst>
          </p:cNvPr>
          <p:cNvSpPr>
            <a:spLocks noGrp="1"/>
          </p:cNvSpPr>
          <p:nvPr>
            <p:ph type="ctrTitle"/>
          </p:nvPr>
        </p:nvSpPr>
        <p:spPr>
          <a:xfrm>
            <a:off x="1408557" y="190194"/>
            <a:ext cx="9144000" cy="2387600"/>
          </a:xfrm>
        </p:spPr>
        <p:txBody>
          <a:bodyPr/>
          <a:lstStyle/>
          <a:p>
            <a:r>
              <a:rPr lang="en-US" dirty="0"/>
              <a:t>BLOOM Filter</a:t>
            </a:r>
          </a:p>
        </p:txBody>
      </p:sp>
      <p:pic>
        <p:nvPicPr>
          <p:cNvPr id="5" name="Picture 4">
            <a:extLst>
              <a:ext uri="{FF2B5EF4-FFF2-40B4-BE49-F238E27FC236}">
                <a16:creationId xmlns:a16="http://schemas.microsoft.com/office/drawing/2014/main" id="{5B2252E0-C048-284D-4046-677C5BFB21CD}"/>
              </a:ext>
            </a:extLst>
          </p:cNvPr>
          <p:cNvPicPr>
            <a:picLocks noChangeAspect="1"/>
          </p:cNvPicPr>
          <p:nvPr/>
        </p:nvPicPr>
        <p:blipFill>
          <a:blip r:embed="rId2"/>
          <a:stretch>
            <a:fillRect/>
          </a:stretch>
        </p:blipFill>
        <p:spPr>
          <a:xfrm>
            <a:off x="3643530" y="2699057"/>
            <a:ext cx="4238625" cy="3162300"/>
          </a:xfrm>
          <a:prstGeom prst="rect">
            <a:avLst/>
          </a:prstGeom>
        </p:spPr>
      </p:pic>
    </p:spTree>
    <p:extLst>
      <p:ext uri="{BB962C8B-B14F-4D97-AF65-F5344CB8AC3E}">
        <p14:creationId xmlns:p14="http://schemas.microsoft.com/office/powerpoint/2010/main" val="53747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C90A5-176E-E801-A440-1ED897478DEE}"/>
              </a:ext>
            </a:extLst>
          </p:cNvPr>
          <p:cNvSpPr>
            <a:spLocks noGrp="1"/>
          </p:cNvSpPr>
          <p:nvPr>
            <p:ph type="title"/>
          </p:nvPr>
        </p:nvSpPr>
        <p:spPr/>
        <p:txBody>
          <a:bodyPr/>
          <a:lstStyle/>
          <a:p>
            <a:r>
              <a:rPr lang="en-US" dirty="0"/>
              <a:t>Bloom Filters</a:t>
            </a:r>
          </a:p>
        </p:txBody>
      </p:sp>
      <p:sp>
        <p:nvSpPr>
          <p:cNvPr id="3" name="Content Placeholder 2">
            <a:extLst>
              <a:ext uri="{FF2B5EF4-FFF2-40B4-BE49-F238E27FC236}">
                <a16:creationId xmlns:a16="http://schemas.microsoft.com/office/drawing/2014/main" id="{6AC6D2B1-41E8-8202-2550-7DF404D3DECB}"/>
              </a:ext>
            </a:extLst>
          </p:cNvPr>
          <p:cNvSpPr>
            <a:spLocks noGrp="1"/>
          </p:cNvSpPr>
          <p:nvPr>
            <p:ph idx="1"/>
          </p:nvPr>
        </p:nvSpPr>
        <p:spPr>
          <a:xfrm>
            <a:off x="838200" y="1825625"/>
            <a:ext cx="10515600" cy="2436886"/>
          </a:xfrm>
        </p:spPr>
        <p:txBody>
          <a:bodyPr>
            <a:normAutofit lnSpcReduction="10000"/>
          </a:bodyPr>
          <a:lstStyle/>
          <a:p>
            <a:r>
              <a:rPr lang="en-US" dirty="0"/>
              <a:t>What is a Bloom Filter ?</a:t>
            </a:r>
          </a:p>
          <a:p>
            <a:r>
              <a:rPr lang="en-US" dirty="0"/>
              <a:t>What are probabilistic Data Structures ?</a:t>
            </a:r>
          </a:p>
          <a:p>
            <a:r>
              <a:rPr lang="en-US" dirty="0"/>
              <a:t>Can it be used for </a:t>
            </a:r>
            <a:r>
              <a:rPr lang="en-US" sz="3600" b="1" dirty="0"/>
              <a:t>String Similarity </a:t>
            </a:r>
            <a:r>
              <a:rPr lang="en-US" dirty="0"/>
              <a:t>? Does string similarity necessarily mean Phonetically equal strings ?</a:t>
            </a:r>
          </a:p>
          <a:p>
            <a:r>
              <a:rPr lang="en-US" dirty="0"/>
              <a:t>How does Bloom Filter Work ?</a:t>
            </a:r>
          </a:p>
        </p:txBody>
      </p:sp>
    </p:spTree>
    <p:extLst>
      <p:ext uri="{BB962C8B-B14F-4D97-AF65-F5344CB8AC3E}">
        <p14:creationId xmlns:p14="http://schemas.microsoft.com/office/powerpoint/2010/main" val="62509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D2973-916F-C1CC-95E4-E564415F85DD}"/>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2135A2B3-AAA1-D671-B434-624390FF26CC}"/>
              </a:ext>
            </a:extLst>
          </p:cNvPr>
          <p:cNvSpPr>
            <a:spLocks noGrp="1"/>
          </p:cNvSpPr>
          <p:nvPr>
            <p:ph idx="1"/>
          </p:nvPr>
        </p:nvSpPr>
        <p:spPr/>
        <p:txBody>
          <a:bodyPr/>
          <a:lstStyle/>
          <a:p>
            <a:r>
              <a:rPr lang="en-US" dirty="0">
                <a:hlinkClick r:id="rId2"/>
              </a:rPr>
              <a:t>Bloom Filters Explained - System Design</a:t>
            </a:r>
            <a:endParaRPr lang="en-US" dirty="0"/>
          </a:p>
          <a:p>
            <a:r>
              <a:rPr lang="en-US" dirty="0">
                <a:hlinkClick r:id="rId3"/>
              </a:rPr>
              <a:t>Bloom Filter: A Probabilistic Search Approach in Data Structures | by Aakash </a:t>
            </a:r>
            <a:r>
              <a:rPr lang="en-US" dirty="0" err="1">
                <a:hlinkClick r:id="rId3"/>
              </a:rPr>
              <a:t>Bindal</a:t>
            </a:r>
            <a:r>
              <a:rPr lang="en-US" dirty="0">
                <a:hlinkClick r:id="rId3"/>
              </a:rPr>
              <a:t> | </a:t>
            </a:r>
            <a:r>
              <a:rPr lang="en-US" dirty="0" err="1">
                <a:hlinkClick r:id="rId3"/>
              </a:rPr>
              <a:t>Techspace</a:t>
            </a:r>
            <a:r>
              <a:rPr lang="en-US" dirty="0">
                <a:hlinkClick r:id="rId3"/>
              </a:rPr>
              <a:t> | Medium</a:t>
            </a:r>
            <a:endParaRPr lang="en-US" dirty="0"/>
          </a:p>
          <a:p>
            <a:r>
              <a:rPr lang="en-US" dirty="0">
                <a:hlinkClick r:id="rId4"/>
              </a:rPr>
              <a:t>Bloom Filters (</a:t>
            </a:r>
            <a:r>
              <a:rPr lang="en-US" dirty="0" err="1">
                <a:hlinkClick r:id="rId4"/>
              </a:rPr>
              <a:t>samwho.dev</a:t>
            </a:r>
            <a:r>
              <a:rPr lang="en-US" dirty="0">
                <a:hlinkClick r:id="rId4"/>
              </a:rPr>
              <a:t>)</a:t>
            </a:r>
            <a:endParaRPr lang="en-US" dirty="0"/>
          </a:p>
        </p:txBody>
      </p:sp>
    </p:spTree>
    <p:extLst>
      <p:ext uri="{BB962C8B-B14F-4D97-AF65-F5344CB8AC3E}">
        <p14:creationId xmlns:p14="http://schemas.microsoft.com/office/powerpoint/2010/main" val="3995852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EED44-851A-D0CD-EBC6-4D166D927315}"/>
              </a:ext>
            </a:extLst>
          </p:cNvPr>
          <p:cNvSpPr>
            <a:spLocks noGrp="1"/>
          </p:cNvSpPr>
          <p:nvPr>
            <p:ph type="title"/>
          </p:nvPr>
        </p:nvSpPr>
        <p:spPr/>
        <p:txBody>
          <a:bodyPr/>
          <a:lstStyle/>
          <a:p>
            <a:r>
              <a:rPr lang="en-US" dirty="0"/>
              <a:t>Open Items</a:t>
            </a:r>
          </a:p>
        </p:txBody>
      </p:sp>
      <p:sp>
        <p:nvSpPr>
          <p:cNvPr id="3" name="Content Placeholder 2">
            <a:extLst>
              <a:ext uri="{FF2B5EF4-FFF2-40B4-BE49-F238E27FC236}">
                <a16:creationId xmlns:a16="http://schemas.microsoft.com/office/drawing/2014/main" id="{B5788DD7-1DA1-5077-CD87-5B08E65B2026}"/>
              </a:ext>
            </a:extLst>
          </p:cNvPr>
          <p:cNvSpPr>
            <a:spLocks noGrp="1"/>
          </p:cNvSpPr>
          <p:nvPr>
            <p:ph idx="1"/>
          </p:nvPr>
        </p:nvSpPr>
        <p:spPr/>
        <p:txBody>
          <a:bodyPr/>
          <a:lstStyle/>
          <a:p>
            <a:r>
              <a:rPr lang="en-US" dirty="0"/>
              <a:t>Need to check if usage of a different hash function yields a better result.</a:t>
            </a:r>
          </a:p>
        </p:txBody>
      </p:sp>
    </p:spTree>
    <p:extLst>
      <p:ext uri="{BB962C8B-B14F-4D97-AF65-F5344CB8AC3E}">
        <p14:creationId xmlns:p14="http://schemas.microsoft.com/office/powerpoint/2010/main" val="2835630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42864-095A-1415-D4D4-DDF348C03FE3}"/>
              </a:ext>
            </a:extLst>
          </p:cNvPr>
          <p:cNvSpPr>
            <a:spLocks noGrp="1"/>
          </p:cNvSpPr>
          <p:nvPr>
            <p:ph type="title"/>
          </p:nvPr>
        </p:nvSpPr>
        <p:spPr>
          <a:xfrm>
            <a:off x="120748" y="134937"/>
            <a:ext cx="5140569" cy="765395"/>
          </a:xfrm>
        </p:spPr>
        <p:txBody>
          <a:bodyPr>
            <a:normAutofit/>
          </a:bodyPr>
          <a:lstStyle/>
          <a:p>
            <a:r>
              <a:rPr lang="en-US" sz="3600" dirty="0"/>
              <a:t>Chat GPT Response	</a:t>
            </a:r>
          </a:p>
        </p:txBody>
      </p:sp>
      <p:sp>
        <p:nvSpPr>
          <p:cNvPr id="3" name="Content Placeholder 2">
            <a:extLst>
              <a:ext uri="{FF2B5EF4-FFF2-40B4-BE49-F238E27FC236}">
                <a16:creationId xmlns:a16="http://schemas.microsoft.com/office/drawing/2014/main" id="{65A80C24-14F7-B550-2E37-D1165A865398}"/>
              </a:ext>
            </a:extLst>
          </p:cNvPr>
          <p:cNvSpPr>
            <a:spLocks noGrp="1"/>
          </p:cNvSpPr>
          <p:nvPr>
            <p:ph idx="1"/>
          </p:nvPr>
        </p:nvSpPr>
        <p:spPr>
          <a:xfrm>
            <a:off x="120747" y="925293"/>
            <a:ext cx="11274083" cy="5531778"/>
          </a:xfrm>
        </p:spPr>
        <p:txBody>
          <a:bodyPr>
            <a:normAutofit fontScale="85000" lnSpcReduction="20000"/>
          </a:bodyPr>
          <a:lstStyle/>
          <a:p>
            <a:pPr marL="0" marR="0" indent="0">
              <a:lnSpc>
                <a:spcPct val="107000"/>
              </a:lnSpc>
              <a:spcBef>
                <a:spcPts val="0"/>
              </a:spcBef>
              <a:spcAft>
                <a:spcPts val="1500"/>
              </a:spcAft>
              <a:buNone/>
            </a:pPr>
            <a: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t>Bloom filters and NYSIIS are two different algorithms used for different purposes, so it's not entirely accurate to compare them directly in terms of "better" or "worse." Let me provide some information on both to help you understand their differences:</a:t>
            </a:r>
            <a:b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br>
            <a:r>
              <a:rPr lang="en-US" sz="1800" b="1" kern="0" dirty="0">
                <a:effectLst/>
                <a:latin typeface="Segoe UI" panose="020B0502040204020203" pitchFamily="34" charset="0"/>
                <a:ea typeface="Times New Roman" panose="02020603050405020304" pitchFamily="18" charset="0"/>
                <a:cs typeface="Times New Roman" panose="02020603050405020304" pitchFamily="18" charset="0"/>
              </a:rPr>
              <a:t>Bloom Filter:</a:t>
            </a: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SzPts val="1000"/>
              <a:buFont typeface="Symbol" panose="05050102010706020507" pitchFamily="18" charset="2"/>
              <a:buChar char=""/>
              <a:tabLst>
                <a:tab pos="457200" algn="l"/>
              </a:tabLst>
            </a:pPr>
            <a: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t>Bloom filter is a probabilistic data structure used to test whether an element is a member of a set or not.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SzPts val="1000"/>
              <a:buFont typeface="Symbol" panose="05050102010706020507" pitchFamily="18" charset="2"/>
              <a:buChar char=""/>
              <a:tabLst>
                <a:tab pos="457200" algn="l"/>
              </a:tabLst>
            </a:pPr>
            <a: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t>It is typically used for membership testing, such as checking if a given string exists in a large set of strings.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SzPts val="1000"/>
              <a:buFont typeface="Symbol" panose="05050102010706020507" pitchFamily="18" charset="2"/>
              <a:buChar char=""/>
              <a:tabLst>
                <a:tab pos="457200" algn="l"/>
              </a:tabLst>
            </a:pPr>
            <a: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t>Bloom filters are very space-efficient and can quickly tell you if an element is definitely not in the set (false negatives are not possible, but false positives can occur).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SzPts val="1000"/>
              <a:buFont typeface="Symbol" panose="05050102010706020507" pitchFamily="18" charset="2"/>
              <a:buChar char=""/>
              <a:tabLst>
                <a:tab pos="457200" algn="l"/>
              </a:tabLst>
            </a:pPr>
            <a: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t>They are not designed for string similarity comparison but rather for set membership testing.</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1500"/>
              </a:spcBef>
              <a:spcAft>
                <a:spcPts val="1500"/>
              </a:spcAft>
              <a:buNone/>
            </a:pPr>
            <a:r>
              <a:rPr lang="en-US" sz="1800" b="1" kern="0" dirty="0">
                <a:effectLst/>
                <a:latin typeface="Segoe UI" panose="020B0502040204020203" pitchFamily="34" charset="0"/>
                <a:ea typeface="Times New Roman" panose="02020603050405020304" pitchFamily="18" charset="0"/>
                <a:cs typeface="Times New Roman" panose="02020603050405020304" pitchFamily="18" charset="0"/>
              </a:rPr>
              <a:t>NYSIIS (New York State Identification and Intelligence System):</a:t>
            </a: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SzPts val="1000"/>
              <a:buFont typeface="Symbol" panose="05050102010706020507" pitchFamily="18" charset="2"/>
              <a:buChar char=""/>
              <a:tabLst>
                <a:tab pos="457200" algn="l"/>
              </a:tabLst>
            </a:pPr>
            <a: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t>NYSIIS is a phonetic matching algorithm that converts words into a phonetic code based on their pronunciation.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SzPts val="1000"/>
              <a:buFont typeface="Symbol" panose="05050102010706020507" pitchFamily="18" charset="2"/>
              <a:buChar char=""/>
              <a:tabLst>
                <a:tab pos="457200" algn="l"/>
              </a:tabLst>
            </a:pPr>
            <a: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t>It is commonly used for phonetic matching to find similar-sounding words or names.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SzPts val="1000"/>
              <a:buFont typeface="Symbol" panose="05050102010706020507" pitchFamily="18" charset="2"/>
              <a:buChar char=""/>
              <a:tabLst>
                <a:tab pos="457200" algn="l"/>
              </a:tabLst>
            </a:pPr>
            <a: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t>NYSIIS can be useful for tasks like record linkage, spell-checking, or fuzzy string matching based on pronunciation.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SzPts val="1000"/>
              <a:buFont typeface="Symbol" panose="05050102010706020507" pitchFamily="18" charset="2"/>
              <a:buChar char=""/>
              <a:tabLst>
                <a:tab pos="457200" algn="l"/>
              </a:tabLst>
            </a:pPr>
            <a: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t>It is not designed for set membership testing like Bloom filters.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1500"/>
              </a:spcBef>
              <a:spcAft>
                <a:spcPts val="0"/>
              </a:spcAft>
            </a:pPr>
            <a:r>
              <a:rPr lang="en-US" sz="1800" kern="0" dirty="0">
                <a:effectLst/>
                <a:latin typeface="Segoe UI" panose="020B0502040204020203" pitchFamily="34" charset="0"/>
                <a:ea typeface="Times New Roman" panose="02020603050405020304" pitchFamily="18" charset="0"/>
                <a:cs typeface="Times New Roman" panose="02020603050405020304" pitchFamily="18" charset="0"/>
              </a:rPr>
              <a:t>In summary, if you are looking to check membership in a set efficiently, a Bloom filter would be a better choice. On the other hand, if you need to compare strings based on their pronunciation or phonetics, NYSIIS would be more suitable. The choice between the two algorithms depends on the specific use case and requirements of your application.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104877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B1FF6-8F81-6A28-8E26-3B9E96AD18AE}"/>
              </a:ext>
            </a:extLst>
          </p:cNvPr>
          <p:cNvSpPr>
            <a:spLocks noGrp="1"/>
          </p:cNvSpPr>
          <p:nvPr>
            <p:ph type="title"/>
          </p:nvPr>
        </p:nvSpPr>
        <p:spPr/>
        <p:txBody>
          <a:bodyPr/>
          <a:lstStyle/>
          <a:p>
            <a:r>
              <a:rPr lang="en-US" dirty="0"/>
              <a:t>Bloom Filters</a:t>
            </a:r>
          </a:p>
        </p:txBody>
      </p:sp>
      <p:sp>
        <p:nvSpPr>
          <p:cNvPr id="3" name="Content Placeholder 2">
            <a:extLst>
              <a:ext uri="{FF2B5EF4-FFF2-40B4-BE49-F238E27FC236}">
                <a16:creationId xmlns:a16="http://schemas.microsoft.com/office/drawing/2014/main" id="{AFF67479-B52F-0503-89D0-7F66C45A0D57}"/>
              </a:ext>
            </a:extLst>
          </p:cNvPr>
          <p:cNvSpPr>
            <a:spLocks noGrp="1"/>
          </p:cNvSpPr>
          <p:nvPr>
            <p:ph idx="1"/>
          </p:nvPr>
        </p:nvSpPr>
        <p:spPr>
          <a:xfrm>
            <a:off x="838200" y="1825625"/>
            <a:ext cx="10831286" cy="3987346"/>
          </a:xfrm>
        </p:spPr>
        <p:txBody>
          <a:bodyPr>
            <a:normAutofit fontScale="92500"/>
          </a:bodyPr>
          <a:lstStyle/>
          <a:p>
            <a:r>
              <a:rPr lang="en-US" b="0" i="0" dirty="0">
                <a:solidFill>
                  <a:srgbClr val="273239"/>
                </a:solidFill>
                <a:effectLst/>
                <a:latin typeface="Nunito" pitchFamily="2" charset="0"/>
              </a:rPr>
              <a:t> A probabilistic data structure used to test if an element is a member of a set.</a:t>
            </a:r>
          </a:p>
          <a:p>
            <a:r>
              <a:rPr lang="en-US" b="0" i="0" dirty="0">
                <a:solidFill>
                  <a:srgbClr val="273239"/>
                </a:solidFill>
                <a:effectLst/>
                <a:latin typeface="Nunito" pitchFamily="2" charset="0"/>
              </a:rPr>
              <a:t>Probabilistic Data Structures are data structures that provide approximate answers to queries about a large dataset, rather than exact answers. These data structures are designed to handle large amounts of data in real-time, by making trade-offs between accuracy and time and space efficiency.</a:t>
            </a:r>
          </a:p>
          <a:p>
            <a:r>
              <a:rPr lang="en-US" b="0" i="0" dirty="0">
                <a:solidFill>
                  <a:srgbClr val="273239"/>
                </a:solidFill>
                <a:effectLst/>
                <a:latin typeface="Nunito" pitchFamily="2" charset="0"/>
              </a:rPr>
              <a:t>The key advantage of probabilistic data structures is their ability to handle large amounts of data in real-time, by providing approximate answers to queries with limited space and computation. </a:t>
            </a:r>
            <a:endParaRPr lang="en-US" dirty="0"/>
          </a:p>
        </p:txBody>
      </p:sp>
    </p:spTree>
    <p:extLst>
      <p:ext uri="{BB962C8B-B14F-4D97-AF65-F5344CB8AC3E}">
        <p14:creationId xmlns:p14="http://schemas.microsoft.com/office/powerpoint/2010/main" val="868981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B49DC2-E70F-603A-3707-3745AA341256}"/>
              </a:ext>
            </a:extLst>
          </p:cNvPr>
          <p:cNvPicPr>
            <a:picLocks noChangeAspect="1"/>
          </p:cNvPicPr>
          <p:nvPr/>
        </p:nvPicPr>
        <p:blipFill>
          <a:blip r:embed="rId2"/>
          <a:stretch>
            <a:fillRect/>
          </a:stretch>
        </p:blipFill>
        <p:spPr>
          <a:xfrm>
            <a:off x="461962" y="385762"/>
            <a:ext cx="11268075" cy="6086475"/>
          </a:xfrm>
          <a:prstGeom prst="rect">
            <a:avLst/>
          </a:prstGeom>
        </p:spPr>
      </p:pic>
    </p:spTree>
    <p:extLst>
      <p:ext uri="{BB962C8B-B14F-4D97-AF65-F5344CB8AC3E}">
        <p14:creationId xmlns:p14="http://schemas.microsoft.com/office/powerpoint/2010/main" val="1691865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BD0D27-0971-6AE5-5B0F-1528F503FB87}"/>
              </a:ext>
            </a:extLst>
          </p:cNvPr>
          <p:cNvPicPr>
            <a:picLocks noChangeAspect="1"/>
          </p:cNvPicPr>
          <p:nvPr/>
        </p:nvPicPr>
        <p:blipFill>
          <a:blip r:embed="rId2"/>
          <a:stretch>
            <a:fillRect/>
          </a:stretch>
        </p:blipFill>
        <p:spPr>
          <a:xfrm>
            <a:off x="552450" y="657225"/>
            <a:ext cx="11087100" cy="5543550"/>
          </a:xfrm>
          <a:prstGeom prst="rect">
            <a:avLst/>
          </a:prstGeom>
        </p:spPr>
      </p:pic>
    </p:spTree>
    <p:extLst>
      <p:ext uri="{BB962C8B-B14F-4D97-AF65-F5344CB8AC3E}">
        <p14:creationId xmlns:p14="http://schemas.microsoft.com/office/powerpoint/2010/main" val="1452683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290422-C7AE-B1CF-4343-FD8A652799DB}"/>
              </a:ext>
            </a:extLst>
          </p:cNvPr>
          <p:cNvPicPr>
            <a:picLocks noChangeAspect="1"/>
          </p:cNvPicPr>
          <p:nvPr/>
        </p:nvPicPr>
        <p:blipFill>
          <a:blip r:embed="rId2"/>
          <a:stretch>
            <a:fillRect/>
          </a:stretch>
        </p:blipFill>
        <p:spPr>
          <a:xfrm>
            <a:off x="542925" y="681037"/>
            <a:ext cx="11106150" cy="5495925"/>
          </a:xfrm>
          <a:prstGeom prst="rect">
            <a:avLst/>
          </a:prstGeom>
        </p:spPr>
      </p:pic>
    </p:spTree>
    <p:extLst>
      <p:ext uri="{BB962C8B-B14F-4D97-AF65-F5344CB8AC3E}">
        <p14:creationId xmlns:p14="http://schemas.microsoft.com/office/powerpoint/2010/main" val="1624760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6FCF7D-2C19-7DD1-B944-A6BB56406B34}"/>
              </a:ext>
            </a:extLst>
          </p:cNvPr>
          <p:cNvPicPr>
            <a:picLocks noChangeAspect="1"/>
          </p:cNvPicPr>
          <p:nvPr/>
        </p:nvPicPr>
        <p:blipFill>
          <a:blip r:embed="rId2"/>
          <a:stretch>
            <a:fillRect/>
          </a:stretch>
        </p:blipFill>
        <p:spPr>
          <a:xfrm>
            <a:off x="590550" y="1566862"/>
            <a:ext cx="11010900" cy="3724275"/>
          </a:xfrm>
          <a:prstGeom prst="rect">
            <a:avLst/>
          </a:prstGeom>
        </p:spPr>
      </p:pic>
    </p:spTree>
    <p:extLst>
      <p:ext uri="{BB962C8B-B14F-4D97-AF65-F5344CB8AC3E}">
        <p14:creationId xmlns:p14="http://schemas.microsoft.com/office/powerpoint/2010/main" val="2750629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073CD-F461-FDC3-3A8B-6DD416823514}"/>
              </a:ext>
            </a:extLst>
          </p:cNvPr>
          <p:cNvSpPr>
            <a:spLocks noGrp="1"/>
          </p:cNvSpPr>
          <p:nvPr>
            <p:ph type="title"/>
          </p:nvPr>
        </p:nvSpPr>
        <p:spPr/>
        <p:txBody>
          <a:bodyPr/>
          <a:lstStyle/>
          <a:p>
            <a:r>
              <a:rPr lang="en-US" dirty="0"/>
              <a:t>Based On</a:t>
            </a:r>
          </a:p>
        </p:txBody>
      </p:sp>
      <p:sp>
        <p:nvSpPr>
          <p:cNvPr id="3" name="Content Placeholder 2">
            <a:extLst>
              <a:ext uri="{FF2B5EF4-FFF2-40B4-BE49-F238E27FC236}">
                <a16:creationId xmlns:a16="http://schemas.microsoft.com/office/drawing/2014/main" id="{4339D5E7-ED6C-5F8C-EC2E-98BD385F21CE}"/>
              </a:ext>
            </a:extLst>
          </p:cNvPr>
          <p:cNvSpPr>
            <a:spLocks noGrp="1"/>
          </p:cNvSpPr>
          <p:nvPr>
            <p:ph idx="1"/>
          </p:nvPr>
        </p:nvSpPr>
        <p:spPr/>
        <p:txBody>
          <a:bodyPr/>
          <a:lstStyle/>
          <a:p>
            <a:r>
              <a:rPr lang="en-US" dirty="0"/>
              <a:t>BIT ARRAYS</a:t>
            </a:r>
          </a:p>
          <a:p>
            <a:r>
              <a:rPr lang="en-US" dirty="0"/>
              <a:t>HASH FUNCTIONS </a:t>
            </a:r>
          </a:p>
        </p:txBody>
      </p:sp>
    </p:spTree>
    <p:extLst>
      <p:ext uri="{BB962C8B-B14F-4D97-AF65-F5344CB8AC3E}">
        <p14:creationId xmlns:p14="http://schemas.microsoft.com/office/powerpoint/2010/main" val="1288345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22580-9C31-D0A9-4432-D96157CDA342}"/>
              </a:ext>
            </a:extLst>
          </p:cNvPr>
          <p:cNvSpPr>
            <a:spLocks noGrp="1"/>
          </p:cNvSpPr>
          <p:nvPr>
            <p:ph type="title"/>
          </p:nvPr>
        </p:nvSpPr>
        <p:spPr/>
        <p:txBody>
          <a:bodyPr/>
          <a:lstStyle/>
          <a:p>
            <a:r>
              <a:rPr lang="en-US" dirty="0"/>
              <a:t>BITARRAY</a:t>
            </a:r>
          </a:p>
        </p:txBody>
      </p:sp>
      <p:pic>
        <p:nvPicPr>
          <p:cNvPr id="1026" name="Picture 2">
            <a:extLst>
              <a:ext uri="{FF2B5EF4-FFF2-40B4-BE49-F238E27FC236}">
                <a16:creationId xmlns:a16="http://schemas.microsoft.com/office/drawing/2014/main" id="{D7E7B429-4EF9-3EB1-7FFC-89172C837D1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2755" y="1690688"/>
            <a:ext cx="6146032" cy="147301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039B313-7AEB-D937-C9E6-0C4A7900A9B9}"/>
              </a:ext>
            </a:extLst>
          </p:cNvPr>
          <p:cNvSpPr txBox="1"/>
          <p:nvPr/>
        </p:nvSpPr>
        <p:spPr>
          <a:xfrm>
            <a:off x="838200" y="3614057"/>
            <a:ext cx="10515600" cy="2677656"/>
          </a:xfrm>
          <a:prstGeom prst="rect">
            <a:avLst/>
          </a:prstGeom>
          <a:noFill/>
        </p:spPr>
        <p:txBody>
          <a:bodyPr wrap="square" rtlCol="0">
            <a:spAutoFit/>
          </a:bodyPr>
          <a:lstStyle/>
          <a:p>
            <a:r>
              <a:rPr lang="en-US" sz="2800" b="0" i="0" dirty="0">
                <a:solidFill>
                  <a:srgbClr val="242424"/>
                </a:solidFill>
                <a:effectLst/>
                <a:latin typeface="source-serif-pro"/>
              </a:rPr>
              <a:t>If you want to keep track of the numbers from a given range, then you want to use Bit Array. As soon as you got a number, just make the bit of that index equals to 1(or set). And, if in future you want to check whether you have seen that number just go to that index which is equal to your number and see the value if it is 1 then you have previously seen it otherwise not.</a:t>
            </a:r>
            <a:endParaRPr lang="en-US" sz="2800" dirty="0"/>
          </a:p>
        </p:txBody>
      </p:sp>
    </p:spTree>
    <p:extLst>
      <p:ext uri="{BB962C8B-B14F-4D97-AF65-F5344CB8AC3E}">
        <p14:creationId xmlns:p14="http://schemas.microsoft.com/office/powerpoint/2010/main" val="2810678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3D3E0-43D6-B4C3-D01E-6826A076133D}"/>
              </a:ext>
            </a:extLst>
          </p:cNvPr>
          <p:cNvSpPr>
            <a:spLocks noGrp="1"/>
          </p:cNvSpPr>
          <p:nvPr>
            <p:ph type="title"/>
          </p:nvPr>
        </p:nvSpPr>
        <p:spPr>
          <a:xfrm>
            <a:off x="536485" y="290489"/>
            <a:ext cx="10515600" cy="781095"/>
          </a:xfrm>
        </p:spPr>
        <p:txBody>
          <a:bodyPr/>
          <a:lstStyle/>
          <a:p>
            <a:r>
              <a:rPr lang="en-US" dirty="0"/>
              <a:t>Hashing</a:t>
            </a:r>
          </a:p>
        </p:txBody>
      </p:sp>
      <p:sp>
        <p:nvSpPr>
          <p:cNvPr id="3" name="Content Placeholder 2">
            <a:extLst>
              <a:ext uri="{FF2B5EF4-FFF2-40B4-BE49-F238E27FC236}">
                <a16:creationId xmlns:a16="http://schemas.microsoft.com/office/drawing/2014/main" id="{A201A7FF-1586-BA4E-7128-0B2AFE523069}"/>
              </a:ext>
            </a:extLst>
          </p:cNvPr>
          <p:cNvSpPr>
            <a:spLocks noGrp="1"/>
          </p:cNvSpPr>
          <p:nvPr>
            <p:ph idx="1"/>
          </p:nvPr>
        </p:nvSpPr>
        <p:spPr>
          <a:xfrm>
            <a:off x="536484" y="3014595"/>
            <a:ext cx="11492517" cy="3347567"/>
          </a:xfrm>
        </p:spPr>
        <p:txBody>
          <a:bodyPr>
            <a:normAutofit/>
          </a:bodyPr>
          <a:lstStyle/>
          <a:p>
            <a:r>
              <a:rPr lang="en-US" dirty="0"/>
              <a:t>Hash functions take a string as an input and give a number.</a:t>
            </a:r>
          </a:p>
          <a:p>
            <a:r>
              <a:rPr lang="en-US" b="0" i="0" dirty="0">
                <a:solidFill>
                  <a:srgbClr val="242424"/>
                </a:solidFill>
                <a:effectLst/>
                <a:latin typeface="source-serif-pro"/>
              </a:rPr>
              <a:t>SHA-1, murmer3, FNV series hash, Jenkins Hash.</a:t>
            </a:r>
          </a:p>
          <a:p>
            <a:r>
              <a:rPr lang="en-US" b="0" i="0" dirty="0">
                <a:solidFill>
                  <a:srgbClr val="242424"/>
                </a:solidFill>
                <a:effectLst/>
                <a:latin typeface="source-serif-pro"/>
              </a:rPr>
              <a:t>murmer3 hash function is very fast and uniformly distributed across its values.</a:t>
            </a:r>
          </a:p>
          <a:p>
            <a:pPr marL="0" indent="0">
              <a:buNone/>
            </a:pPr>
            <a:endParaRPr lang="en-US" dirty="0"/>
          </a:p>
        </p:txBody>
      </p:sp>
      <p:pic>
        <p:nvPicPr>
          <p:cNvPr id="5" name="Picture 4">
            <a:extLst>
              <a:ext uri="{FF2B5EF4-FFF2-40B4-BE49-F238E27FC236}">
                <a16:creationId xmlns:a16="http://schemas.microsoft.com/office/drawing/2014/main" id="{0E71D0B1-270F-1285-9B92-B9A2A740CDC2}"/>
              </a:ext>
            </a:extLst>
          </p:cNvPr>
          <p:cNvPicPr>
            <a:picLocks noChangeAspect="1"/>
          </p:cNvPicPr>
          <p:nvPr/>
        </p:nvPicPr>
        <p:blipFill>
          <a:blip r:embed="rId2"/>
          <a:stretch>
            <a:fillRect/>
          </a:stretch>
        </p:blipFill>
        <p:spPr>
          <a:xfrm>
            <a:off x="162998" y="861946"/>
            <a:ext cx="2876550" cy="2152650"/>
          </a:xfrm>
          <a:prstGeom prst="rect">
            <a:avLst/>
          </a:prstGeom>
        </p:spPr>
      </p:pic>
    </p:spTree>
    <p:extLst>
      <p:ext uri="{BB962C8B-B14F-4D97-AF65-F5344CB8AC3E}">
        <p14:creationId xmlns:p14="http://schemas.microsoft.com/office/powerpoint/2010/main" val="2674158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62F4F-D45B-AAED-53C1-677CF94F788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DB4C018-9B2A-DEF1-C0A1-9FC5F4836E25}"/>
              </a:ext>
            </a:extLst>
          </p:cNvPr>
          <p:cNvSpPr>
            <a:spLocks noGrp="1"/>
          </p:cNvSpPr>
          <p:nvPr>
            <p:ph idx="1"/>
          </p:nvPr>
        </p:nvSpPr>
        <p:spPr/>
        <p:txBody>
          <a:bodyPr>
            <a:normAutofit fontScale="92500" lnSpcReduction="20000"/>
          </a:bodyPr>
          <a:lstStyle/>
          <a:p>
            <a:r>
              <a:rPr lang="en-US" dirty="0"/>
              <a:t>Bloom filters are useful where speed is a concern. </a:t>
            </a:r>
          </a:p>
          <a:p>
            <a:endParaRPr lang="en-US" dirty="0"/>
          </a:p>
          <a:p>
            <a:r>
              <a:rPr lang="en-US" dirty="0"/>
              <a:t>Observation</a:t>
            </a:r>
          </a:p>
          <a:p>
            <a:r>
              <a:rPr lang="en-US" dirty="0"/>
              <a:t>Worked for ABIGAIL. Output depends on False Positive threshold.</a:t>
            </a:r>
          </a:p>
          <a:p>
            <a:r>
              <a:rPr lang="en-US" dirty="0"/>
              <a:t>It did not work for VINEETA,VINITA pair or JOHN or JHON pair.</a:t>
            </a:r>
          </a:p>
          <a:p>
            <a:r>
              <a:rPr lang="en-US" dirty="0"/>
              <a:t>It might also depend on the hash function. Using a certain hash function can be better for string similarity.</a:t>
            </a:r>
          </a:p>
          <a:p>
            <a:r>
              <a:rPr lang="en-US" dirty="0"/>
              <a:t>Tried with SHA suggested for string similarity,</a:t>
            </a:r>
          </a:p>
          <a:p>
            <a:r>
              <a:rPr lang="en-US" dirty="0"/>
              <a:t>Need to figure out how to tune the algorithm.</a:t>
            </a:r>
          </a:p>
          <a:p>
            <a:r>
              <a:rPr lang="en-US" dirty="0"/>
              <a:t>Tuning is based on the probability of false </a:t>
            </a:r>
            <a:r>
              <a:rPr lang="en-US"/>
              <a:t>positives allowed and number of strings input.</a:t>
            </a:r>
            <a:endParaRPr lang="en-US" dirty="0"/>
          </a:p>
        </p:txBody>
      </p:sp>
    </p:spTree>
    <p:extLst>
      <p:ext uri="{BB962C8B-B14F-4D97-AF65-F5344CB8AC3E}">
        <p14:creationId xmlns:p14="http://schemas.microsoft.com/office/powerpoint/2010/main" val="2470557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C56FC-BDD1-7643-1ABE-128391543B9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A605A3C-264C-6E06-44EE-4D7128BDD3C0}"/>
              </a:ext>
            </a:extLst>
          </p:cNvPr>
          <p:cNvSpPr>
            <a:spLocks noGrp="1"/>
          </p:cNvSpPr>
          <p:nvPr>
            <p:ph idx="1"/>
          </p:nvPr>
        </p:nvSpPr>
        <p:spPr/>
        <p:txBody>
          <a:bodyPr>
            <a:normAutofit fontScale="55000" lnSpcReduction="20000"/>
          </a:bodyPr>
          <a:lstStyle/>
          <a:p>
            <a:pPr algn="l"/>
            <a:r>
              <a:rPr lang="en-US" b="0" i="0" dirty="0">
                <a:solidFill>
                  <a:srgbClr val="374151"/>
                </a:solidFill>
                <a:effectLst/>
                <a:latin typeface="ui-sans-serif"/>
              </a:rPr>
              <a:t>Bloom filters and NYSIIS are two different algorithms used for different purposes, so it's not entirely accurate to compare them directly in terms of "better" or "worse." Let me provide some information on both to help you understand their differences:</a:t>
            </a:r>
          </a:p>
          <a:p>
            <a:pPr algn="l"/>
            <a:r>
              <a:rPr lang="en-US" b="0" i="0" dirty="0">
                <a:solidFill>
                  <a:srgbClr val="374151"/>
                </a:solidFill>
                <a:effectLst/>
                <a:latin typeface="ui-sans-serif"/>
              </a:rPr>
              <a:t>Bloom Filter:</a:t>
            </a:r>
          </a:p>
          <a:p>
            <a:pPr algn="l">
              <a:buFont typeface="Arial" panose="020B0604020202020204" pitchFamily="34" charset="0"/>
              <a:buChar char="•"/>
            </a:pPr>
            <a:r>
              <a:rPr lang="en-US" b="0" i="0" dirty="0">
                <a:solidFill>
                  <a:srgbClr val="374151"/>
                </a:solidFill>
                <a:effectLst/>
                <a:latin typeface="ui-sans-serif"/>
              </a:rPr>
              <a:t>Bloom filter is a probabilistic data structure used to test whether an element is a member of a set or not.</a:t>
            </a:r>
          </a:p>
          <a:p>
            <a:pPr algn="l">
              <a:buFont typeface="Arial" panose="020B0604020202020204" pitchFamily="34" charset="0"/>
              <a:buChar char="•"/>
            </a:pPr>
            <a:r>
              <a:rPr lang="en-US" b="0" i="0" dirty="0">
                <a:solidFill>
                  <a:srgbClr val="374151"/>
                </a:solidFill>
                <a:effectLst/>
                <a:latin typeface="ui-sans-serif"/>
              </a:rPr>
              <a:t>It is typically used for membership testing, such as checking if a given string exists in a large set of strings.</a:t>
            </a:r>
          </a:p>
          <a:p>
            <a:pPr algn="l">
              <a:buFont typeface="Arial" panose="020B0604020202020204" pitchFamily="34" charset="0"/>
              <a:buChar char="•"/>
            </a:pPr>
            <a:r>
              <a:rPr lang="en-US" b="0" i="0" dirty="0">
                <a:solidFill>
                  <a:srgbClr val="374151"/>
                </a:solidFill>
                <a:effectLst/>
                <a:latin typeface="ui-sans-serif"/>
              </a:rPr>
              <a:t>Bloom filters are very space-efficient and can quickly tell you if an element is definitely not in the set (false negatives are not possible, but false positives can occur).</a:t>
            </a:r>
          </a:p>
          <a:p>
            <a:pPr algn="l">
              <a:buFont typeface="Arial" panose="020B0604020202020204" pitchFamily="34" charset="0"/>
              <a:buChar char="•"/>
            </a:pPr>
            <a:r>
              <a:rPr lang="en-US" b="0" i="0" dirty="0">
                <a:solidFill>
                  <a:srgbClr val="374151"/>
                </a:solidFill>
                <a:effectLst/>
                <a:latin typeface="ui-sans-serif"/>
              </a:rPr>
              <a:t>They are not designed for string similarity comparison but rather for set membership testing.</a:t>
            </a:r>
          </a:p>
          <a:p>
            <a:pPr algn="l"/>
            <a:r>
              <a:rPr lang="en-US" b="0" i="0" dirty="0">
                <a:solidFill>
                  <a:srgbClr val="374151"/>
                </a:solidFill>
                <a:effectLst/>
                <a:latin typeface="ui-sans-serif"/>
              </a:rPr>
              <a:t>NYSIIS (New York State Identification and Intelligence System):</a:t>
            </a:r>
          </a:p>
          <a:p>
            <a:pPr algn="l">
              <a:buFont typeface="Arial" panose="020B0604020202020204" pitchFamily="34" charset="0"/>
              <a:buChar char="•"/>
            </a:pPr>
            <a:r>
              <a:rPr lang="en-US" b="0" i="0" dirty="0">
                <a:solidFill>
                  <a:srgbClr val="374151"/>
                </a:solidFill>
                <a:effectLst/>
                <a:latin typeface="ui-sans-serif"/>
              </a:rPr>
              <a:t>NYSIIS is a phonetic matching algorithm that converts words into a phonetic code based on their pronunciation.</a:t>
            </a:r>
          </a:p>
          <a:p>
            <a:pPr algn="l">
              <a:buFont typeface="Arial" panose="020B0604020202020204" pitchFamily="34" charset="0"/>
              <a:buChar char="•"/>
            </a:pPr>
            <a:r>
              <a:rPr lang="en-US" b="0" i="0" dirty="0">
                <a:solidFill>
                  <a:srgbClr val="374151"/>
                </a:solidFill>
                <a:effectLst/>
                <a:latin typeface="ui-sans-serif"/>
              </a:rPr>
              <a:t>It is commonly used for phonetic matching to find similar-sounding words or names.</a:t>
            </a:r>
          </a:p>
          <a:p>
            <a:pPr algn="l">
              <a:buFont typeface="Arial" panose="020B0604020202020204" pitchFamily="34" charset="0"/>
              <a:buChar char="•"/>
            </a:pPr>
            <a:r>
              <a:rPr lang="en-US" b="0" i="0" dirty="0">
                <a:solidFill>
                  <a:srgbClr val="374151"/>
                </a:solidFill>
                <a:effectLst/>
                <a:latin typeface="ui-sans-serif"/>
              </a:rPr>
              <a:t>NYSIIS can be useful for tasks like record linkage, spell-checking, or fuzzy string matching based on pronunciation.</a:t>
            </a:r>
          </a:p>
          <a:p>
            <a:pPr algn="l">
              <a:buFont typeface="Arial" panose="020B0604020202020204" pitchFamily="34" charset="0"/>
              <a:buChar char="•"/>
            </a:pPr>
            <a:r>
              <a:rPr lang="en-US" b="0" i="0" dirty="0">
                <a:solidFill>
                  <a:srgbClr val="374151"/>
                </a:solidFill>
                <a:effectLst/>
                <a:latin typeface="ui-sans-serif"/>
              </a:rPr>
              <a:t>It is not designed for set membership testing like Bloom filters.</a:t>
            </a:r>
          </a:p>
          <a:p>
            <a:pPr algn="l"/>
            <a:r>
              <a:rPr lang="en-US" b="0" i="0" dirty="0">
                <a:solidFill>
                  <a:srgbClr val="374151"/>
                </a:solidFill>
                <a:effectLst/>
                <a:latin typeface="ui-sans-serif"/>
              </a:rPr>
              <a:t>In summary, if you are looking to check membership in a set efficiently, a Bloom filter would be a better choice. On the other hand, if you need to compare strings based on their pronunciation or phonetics, NYSIIS would be more suitable. The choice between the two algorithms depends on the specific use case and requirements of your application.</a:t>
            </a:r>
          </a:p>
        </p:txBody>
      </p:sp>
    </p:spTree>
    <p:extLst>
      <p:ext uri="{BB962C8B-B14F-4D97-AF65-F5344CB8AC3E}">
        <p14:creationId xmlns:p14="http://schemas.microsoft.com/office/powerpoint/2010/main" val="23062380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990bb7a-51f4-439b-bd36-9c07fb1041c0}" enabled="0" method="" siteId="{c990bb7a-51f4-439b-bd36-9c07fb1041c0}" removed="1"/>
</clbl:labelList>
</file>

<file path=docProps/app.xml><?xml version="1.0" encoding="utf-8"?>
<Properties xmlns="http://schemas.openxmlformats.org/officeDocument/2006/extended-properties" xmlns:vt="http://schemas.openxmlformats.org/officeDocument/2006/docPropsVTypes">
  <TotalTime>1387</TotalTime>
  <Words>977</Words>
  <Application>Microsoft Office PowerPoint</Application>
  <PresentationFormat>Widescreen</PresentationFormat>
  <Paragraphs>58</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Calibri</vt:lpstr>
      <vt:lpstr>Calibri Light</vt:lpstr>
      <vt:lpstr>Nunito</vt:lpstr>
      <vt:lpstr>Segoe UI</vt:lpstr>
      <vt:lpstr>source-serif-pro</vt:lpstr>
      <vt:lpstr>Symbol</vt:lpstr>
      <vt:lpstr>ui-sans-serif</vt:lpstr>
      <vt:lpstr>Office Theme</vt:lpstr>
      <vt:lpstr>BLOOM Filter</vt:lpstr>
      <vt:lpstr>Bloom Filters</vt:lpstr>
      <vt:lpstr>References</vt:lpstr>
      <vt:lpstr>Open Items</vt:lpstr>
      <vt:lpstr>Chat GPT Response </vt:lpstr>
      <vt:lpstr>Bloom Filters</vt:lpstr>
      <vt:lpstr>PowerPoint Presentation</vt:lpstr>
      <vt:lpstr>PowerPoint Presentation</vt:lpstr>
      <vt:lpstr>PowerPoint Presentation</vt:lpstr>
      <vt:lpstr>PowerPoint Presentation</vt:lpstr>
      <vt:lpstr>Based On</vt:lpstr>
      <vt:lpstr>BITARRAY</vt:lpstr>
      <vt:lpstr>Hashing</vt:lpstr>
      <vt:lpstr>PowerPoint Presentation</vt:lpstr>
      <vt:lpstr>PowerPoint Presentation</vt:lpstr>
    </vt:vector>
  </TitlesOfParts>
  <Company>Ford Motor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BLOOM</dc:title>
  <dc:creator>Vijaykumar, Vineeta (V.)</dc:creator>
  <cp:lastModifiedBy>Vijaykumar, Vineeta (V.)</cp:lastModifiedBy>
  <cp:revision>1</cp:revision>
  <dcterms:created xsi:type="dcterms:W3CDTF">2024-03-05T08:59:07Z</dcterms:created>
  <dcterms:modified xsi:type="dcterms:W3CDTF">2024-03-08T06:21:36Z</dcterms:modified>
</cp:coreProperties>
</file>